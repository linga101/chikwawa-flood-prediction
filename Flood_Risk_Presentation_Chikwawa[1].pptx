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966" r:id="rId1"/>
  </p:sldMasterIdLst>
  <p:notesMasterIdLst>
    <p:notesMasterId r:id="rId17"/>
  </p:notesMasterIdLst>
  <p:sldIdLst>
    <p:sldId id="256" r:id="rId2"/>
    <p:sldId id="270" r:id="rId3"/>
    <p:sldId id="271" r:id="rId4"/>
    <p:sldId id="269" r:id="rId5"/>
    <p:sldId id="272" r:id="rId6"/>
    <p:sldId id="273" r:id="rId7"/>
    <p:sldId id="274" r:id="rId8"/>
    <p:sldId id="275" r:id="rId9"/>
    <p:sldId id="281" r:id="rId10"/>
    <p:sldId id="276" r:id="rId11"/>
    <p:sldId id="277" r:id="rId12"/>
    <p:sldId id="278" r:id="rId13"/>
    <p:sldId id="279" r:id="rId14"/>
    <p:sldId id="280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jTdBjEaAMgjMJnAalmIHhzFXqy1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himango Nyasulu" initials="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635AB4-C5F6-4583-8181-7C8D40DFE039}" v="4" dt="2025-11-26T06:21:40.7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2" d="100"/>
          <a:sy n="82" d="100"/>
        </p:scale>
        <p:origin x="160" y="-4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galithu Kadewele" userId="73398ae4dd487868" providerId="LiveId" clId="{C05374C7-4900-40D8-8B33-8B85C6B66A08}"/>
    <pc:docChg chg="undo custSel addSld modSld">
      <pc:chgData name="Lingalithu Kadewele" userId="73398ae4dd487868" providerId="LiveId" clId="{C05374C7-4900-40D8-8B33-8B85C6B66A08}" dt="2025-11-26T06:21:48.853" v="19" actId="962"/>
      <pc:docMkLst>
        <pc:docMk/>
      </pc:docMkLst>
      <pc:sldChg chg="addSp delSp modSp mod setBg">
        <pc:chgData name="Lingalithu Kadewele" userId="73398ae4dd487868" providerId="LiveId" clId="{C05374C7-4900-40D8-8B33-8B85C6B66A08}" dt="2025-11-26T06:21:32.486" v="12" actId="21"/>
        <pc:sldMkLst>
          <pc:docMk/>
          <pc:sldMk cId="1077271807" sldId="275"/>
        </pc:sldMkLst>
        <pc:spChg chg="mod ord">
          <ac:chgData name="Lingalithu Kadewele" userId="73398ae4dd487868" providerId="LiveId" clId="{C05374C7-4900-40D8-8B33-8B85C6B66A08}" dt="2025-11-26T06:21:26.571" v="11" actId="26606"/>
          <ac:spMkLst>
            <pc:docMk/>
            <pc:sldMk cId="1077271807" sldId="275"/>
            <ac:spMk id="2" creationId="{B081E1F9-F599-03A8-F69F-D6E28F3D3CF6}"/>
          </ac:spMkLst>
        </pc:spChg>
        <pc:spChg chg="mod ord">
          <ac:chgData name="Lingalithu Kadewele" userId="73398ae4dd487868" providerId="LiveId" clId="{C05374C7-4900-40D8-8B33-8B85C6B66A08}" dt="2025-11-26T06:21:26.571" v="11" actId="26606"/>
          <ac:spMkLst>
            <pc:docMk/>
            <pc:sldMk cId="1077271807" sldId="275"/>
            <ac:spMk id="3" creationId="{BC61F5EF-39BE-A3A1-36C4-C24B2F3E23F4}"/>
          </ac:spMkLst>
        </pc:spChg>
        <pc:spChg chg="add mod">
          <ac:chgData name="Lingalithu Kadewele" userId="73398ae4dd487868" providerId="LiveId" clId="{C05374C7-4900-40D8-8B33-8B85C6B66A08}" dt="2025-11-26T06:20:18.259" v="4" actId="931"/>
          <ac:spMkLst>
            <pc:docMk/>
            <pc:sldMk cId="1077271807" sldId="275"/>
            <ac:spMk id="6" creationId="{3B623737-311C-885D-DAF9-59FF081EBF45}"/>
          </ac:spMkLst>
        </pc:spChg>
        <pc:spChg chg="add del mod">
          <ac:chgData name="Lingalithu Kadewele" userId="73398ae4dd487868" providerId="LiveId" clId="{C05374C7-4900-40D8-8B33-8B85C6B66A08}" dt="2025-11-26T06:21:32.486" v="12" actId="21"/>
          <ac:spMkLst>
            <pc:docMk/>
            <pc:sldMk cId="1077271807" sldId="275"/>
            <ac:spMk id="9" creationId="{8F59C6AF-D9AE-C68A-247F-4DC7C56E66AB}"/>
          </ac:spMkLst>
        </pc:spChg>
        <pc:spChg chg="add del">
          <ac:chgData name="Lingalithu Kadewele" userId="73398ae4dd487868" providerId="LiveId" clId="{C05374C7-4900-40D8-8B33-8B85C6B66A08}" dt="2025-11-26T06:21:26.571" v="11" actId="26606"/>
          <ac:spMkLst>
            <pc:docMk/>
            <pc:sldMk cId="1077271807" sldId="275"/>
            <ac:spMk id="14" creationId="{48FE65CB-EFD8-497D-A30A-093E20EACB05}"/>
          </ac:spMkLst>
        </pc:spChg>
        <pc:picChg chg="add mod">
          <ac:chgData name="Lingalithu Kadewele" userId="73398ae4dd487868" providerId="LiveId" clId="{C05374C7-4900-40D8-8B33-8B85C6B66A08}" dt="2025-11-26T06:20:18.259" v="4" actId="931"/>
          <ac:picMkLst>
            <pc:docMk/>
            <pc:sldMk cId="1077271807" sldId="275"/>
            <ac:picMk id="5" creationId="{19F98386-60C5-F954-6905-3FAF5EC563D3}"/>
          </ac:picMkLst>
        </pc:picChg>
        <pc:picChg chg="add del mod">
          <ac:chgData name="Lingalithu Kadewele" userId="73398ae4dd487868" providerId="LiveId" clId="{C05374C7-4900-40D8-8B33-8B85C6B66A08}" dt="2025-11-26T06:21:32.486" v="12" actId="21"/>
          <ac:picMkLst>
            <pc:docMk/>
            <pc:sldMk cId="1077271807" sldId="275"/>
            <ac:picMk id="8" creationId="{622423A6-DF22-B105-2A08-33BCABA15981}"/>
          </ac:picMkLst>
        </pc:picChg>
        <pc:picChg chg="add del">
          <ac:chgData name="Lingalithu Kadewele" userId="73398ae4dd487868" providerId="LiveId" clId="{C05374C7-4900-40D8-8B33-8B85C6B66A08}" dt="2025-11-26T06:21:26.571" v="11" actId="26606"/>
          <ac:picMkLst>
            <pc:docMk/>
            <pc:sldMk cId="1077271807" sldId="275"/>
            <ac:picMk id="16" creationId="{00E374F5-52B2-4260-8B1C-54237931F069}"/>
          </ac:picMkLst>
        </pc:picChg>
      </pc:sldChg>
      <pc:sldChg chg="addSp modSp new mod setBg">
        <pc:chgData name="Lingalithu Kadewele" userId="73398ae4dd487868" providerId="LiveId" clId="{C05374C7-4900-40D8-8B33-8B85C6B66A08}" dt="2025-11-26T06:21:48.853" v="19" actId="962"/>
        <pc:sldMkLst>
          <pc:docMk/>
          <pc:sldMk cId="3411201754" sldId="281"/>
        </pc:sldMkLst>
        <pc:spChg chg="add mod">
          <ac:chgData name="Lingalithu Kadewele" userId="73398ae4dd487868" providerId="LiveId" clId="{C05374C7-4900-40D8-8B33-8B85C6B66A08}" dt="2025-11-26T06:21:45.705" v="17" actId="26606"/>
          <ac:spMkLst>
            <pc:docMk/>
            <pc:sldMk cId="3411201754" sldId="281"/>
            <ac:spMk id="9" creationId="{8F59C6AF-D9AE-C68A-247F-4DC7C56E66AB}"/>
          </ac:spMkLst>
        </pc:spChg>
        <pc:picChg chg="add mod">
          <ac:chgData name="Lingalithu Kadewele" userId="73398ae4dd487868" providerId="LiveId" clId="{C05374C7-4900-40D8-8B33-8B85C6B66A08}" dt="2025-11-26T06:21:48.853" v="19" actId="962"/>
          <ac:picMkLst>
            <pc:docMk/>
            <pc:sldMk cId="3411201754" sldId="281"/>
            <ac:picMk id="8" creationId="{622423A6-DF22-B105-2A08-33BCABA15981}"/>
          </ac:picMkLst>
        </pc:pic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1-24T20:39:31.490" idx="1">
    <p:pos x="432" y="1342"/>
    <p:text>Add MZUNI logo and group members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commentPostId="AAABwsrCUww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967c3efc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967c3efc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75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930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847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6655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4670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30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01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585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0221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234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0369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46573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4501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297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85273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59339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0046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87689-BEDD-7916-4764-478211DFD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0416F-4FD3-E514-E0C6-81E4F223A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6AA9C-8913-2D6B-D4AF-70E1B5E43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AA9E8-841E-37F4-871F-78BD12A4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880D8-4403-374F-A85F-E3D4E364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1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7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7" r:id="rId1"/>
    <p:sldLayoutId id="2147483968" r:id="rId2"/>
    <p:sldLayoutId id="2147483969" r:id="rId3"/>
    <p:sldLayoutId id="2147483970" r:id="rId4"/>
    <p:sldLayoutId id="2147483971" r:id="rId5"/>
    <p:sldLayoutId id="2147483972" r:id="rId6"/>
    <p:sldLayoutId id="2147483973" r:id="rId7"/>
    <p:sldLayoutId id="2147483974" r:id="rId8"/>
    <p:sldLayoutId id="2147483975" r:id="rId9"/>
    <p:sldLayoutId id="2147483976" r:id="rId10"/>
    <p:sldLayoutId id="2147483977" r:id="rId11"/>
    <p:sldLayoutId id="2147483978" r:id="rId12"/>
    <p:sldLayoutId id="2147483979" r:id="rId13"/>
    <p:sldLayoutId id="2147483980" r:id="rId14"/>
    <p:sldLayoutId id="2147483981" r:id="rId15"/>
    <p:sldLayoutId id="2147483982" r:id="rId16"/>
    <p:sldLayoutId id="2147483983" r:id="rId17"/>
    <p:sldLayoutId id="2147483984" r:id="rId18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d/3.0/" TargetMode="External"/><Relationship Id="rId3" Type="http://schemas.openxmlformats.org/officeDocument/2006/relationships/hyperlink" Target="https://www.flickr.com/photos/unitednationsdevelopmentprogramme/16194370778" TargetMode="External"/><Relationship Id="rId7" Type="http://schemas.openxmlformats.org/officeDocument/2006/relationships/hyperlink" Target="https://groundup.org.za/article/mango-tree-saves-top-malawian-musician-from-death-in-floods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hyperlink" Target="https://africanarguments.org/2024/05/kenya-adding-up-the-costs-of-the-floods-amid-an-economic-crisis/" TargetMode="External"/><Relationship Id="rId10" Type="http://schemas.openxmlformats.org/officeDocument/2006/relationships/hyperlink" Target="https://creativecommons.org/licenses/by-nc-sa/3.0/" TargetMode="External"/><Relationship Id="rId4" Type="http://schemas.openxmlformats.org/officeDocument/2006/relationships/image" Target="../media/image6.jpg"/><Relationship Id="rId9" Type="http://schemas.openxmlformats.org/officeDocument/2006/relationships/hyperlink" Target="https://creativecommons.org/licenses/by-nc-nd/3.0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eerj.com/articles/cs-460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/3.0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zindi.africa/competitions/flood-prediction-in-southern-africa" TargetMode="External"/><Relationship Id="rId2" Type="http://schemas.openxmlformats.org/officeDocument/2006/relationships/hyperlink" Target="https://www.gfdrr.org/sites/default/files/publication/Malawi_PDNA_2019.pdf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313258" y="2557851"/>
            <a:ext cx="6847515" cy="1254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1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Flood Risk </a:t>
            </a:r>
            <a:r>
              <a:rPr lang="en-US" sz="3100" b="1" dirty="0">
                <a:solidFill>
                  <a:srgbClr val="000000"/>
                </a:solidFill>
                <a:latin typeface="Century Gothic" panose="020B0502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Prediction</a:t>
            </a:r>
            <a:r>
              <a:rPr lang="en-US" sz="31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in Chikwawa: A Machine Learning-based Solution</a:t>
            </a:r>
            <a:endParaRPr sz="3100" b="1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093561" y="4090365"/>
            <a:ext cx="7523700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Zaheerah </a:t>
            </a:r>
            <a:r>
              <a:rPr lang="en-US" sz="1600" dirty="0" err="1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Abdulashid</a:t>
            </a:r>
            <a:r>
              <a:rPr lang="en-US" sz="1600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 (BSDS 0123)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Lingalithu </a:t>
            </a:r>
            <a:r>
              <a:rPr lang="en-US" sz="1600" dirty="0" err="1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Kadewere</a:t>
            </a:r>
            <a:r>
              <a:rPr lang="en-US" sz="1600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 (BSDS1323)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George </a:t>
            </a:r>
            <a:r>
              <a:rPr lang="en-US" sz="1600" dirty="0" err="1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Mapelera</a:t>
            </a:r>
            <a:r>
              <a:rPr lang="en-US" sz="1600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 (BSDS 2123)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Rodrick Kapopo(BSVCA 1722)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 err="1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Favour</a:t>
            </a:r>
            <a:r>
              <a:rPr lang="en-US" sz="1600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Kampangire</a:t>
            </a:r>
            <a:r>
              <a:rPr lang="en-US" sz="1600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(BSDS 1523)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Louis </a:t>
            </a:r>
            <a:r>
              <a:rPr lang="en-US" sz="1600" dirty="0" err="1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Mamsako</a:t>
            </a:r>
            <a:r>
              <a:rPr lang="en-US" sz="1600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(BSDS 2523)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Jonathan Banda (BSDS 0323)</a:t>
            </a:r>
            <a:endParaRPr sz="1600" dirty="0">
              <a:solidFill>
                <a:schemeClr val="dk1"/>
              </a:solidFill>
              <a:latin typeface="Century Gothic" panose="020B0502020202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logo of a university&#10;&#10;AI-generated content may be incorrect.">
            <a:extLst>
              <a:ext uri="{FF2B5EF4-FFF2-40B4-BE49-F238E27FC236}">
                <a16:creationId xmlns:a16="http://schemas.microsoft.com/office/drawing/2014/main" id="{8516F88D-0028-4DFC-B626-3804F2186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090" y="441531"/>
            <a:ext cx="2237085" cy="22692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3DEB40-ABF1-6562-8535-1ABBF8B02B2F}"/>
              </a:ext>
            </a:extLst>
          </p:cNvPr>
          <p:cNvSpPr txBox="1"/>
          <p:nvPr/>
        </p:nvSpPr>
        <p:spPr>
          <a:xfrm>
            <a:off x="1093561" y="3818702"/>
            <a:ext cx="2353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entury Gothic" panose="020B0502020202020204" pitchFamily="34" charset="0"/>
              </a:rPr>
              <a:t>GROUP 1 MEMBERS: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86588-D6F5-38B8-5AB7-C48CEA64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F314B-DAB0-2800-248E-FB147D89BF3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Chikwawa district is highly prone to flooding, suffering repeated disasters. </a:t>
            </a:r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This project proposes </a:t>
            </a: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1"/>
                  </a:ext>
                </a:extLst>
              </a:rPr>
              <a:t>a</a:t>
            </a: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 machine learning-based flood prediction system using satellite and hydrological data to improve early warnings and reduce disaster impact.</a:t>
            </a:r>
            <a:endParaRPr lang="en-US" cap="none" dirty="0">
              <a:latin typeface="Century Gothic" panose="020B0502020202020204" pitchFamily="34" charset="0"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845324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2B378-A71F-50EE-BCAC-31BCEB10B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B18CE-B770-85EC-2823-6F5A575F95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554" y="1816677"/>
            <a:ext cx="7772870" cy="3424107"/>
          </a:xfrm>
        </p:spPr>
        <p:txBody>
          <a:bodyPr/>
          <a:lstStyle/>
          <a:p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Chikwawa lies in the lower shire valley, impacted by floods from heavy upstream rainfall. Extreme weather events such as cyclones </a:t>
            </a:r>
            <a:r>
              <a:rPr lang="en-US" cap="none" dirty="0" err="1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idai</a:t>
            </a: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 (2019), ana (2022), and </a:t>
            </a:r>
            <a:r>
              <a:rPr lang="en-US" cap="none" dirty="0" err="1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freddy</a:t>
            </a: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 (2023) have intensified flood frequency and severity.</a:t>
            </a:r>
            <a:endParaRPr lang="en-US" cap="none" dirty="0">
              <a:latin typeface="Century Gothic" panose="020B0502020202020204" pitchFamily="34" charset="0"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269643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flooded area with people standing around&#10;&#10;AI-generated content may be incorrect.">
            <a:extLst>
              <a:ext uri="{FF2B5EF4-FFF2-40B4-BE49-F238E27FC236}">
                <a16:creationId xmlns:a16="http://schemas.microsoft.com/office/drawing/2014/main" id="{9C7EA572-3EA2-EBA2-D4EF-24150A2F4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2" b="25655"/>
          <a:stretch>
            <a:fillRect/>
          </a:stretch>
        </p:blipFill>
        <p:spPr>
          <a:xfrm>
            <a:off x="342901" y="768188"/>
            <a:ext cx="4070073" cy="2012261"/>
          </a:xfrm>
          <a:prstGeom prst="rect">
            <a:avLst/>
          </a:prstGeom>
        </p:spPr>
      </p:pic>
      <p:pic>
        <p:nvPicPr>
          <p:cNvPr id="3" name="Picture 2" descr="People standing in a flooded area&#10;&#10;AI-generated content may be incorrect.">
            <a:extLst>
              <a:ext uri="{FF2B5EF4-FFF2-40B4-BE49-F238E27FC236}">
                <a16:creationId xmlns:a16="http://schemas.microsoft.com/office/drawing/2014/main" id="{6CBF846C-D9ED-86E8-A0E5-30CBA58285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33890" r="16467" b="1"/>
          <a:stretch>
            <a:fillRect/>
          </a:stretch>
        </p:blipFill>
        <p:spPr>
          <a:xfrm>
            <a:off x="1245343" y="3631096"/>
            <a:ext cx="2265188" cy="276056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7710" y="0"/>
            <a:ext cx="6858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459486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muddy field with trees and a mountain in the background&#10;&#10;AI-generated content may be incorrect.">
            <a:extLst>
              <a:ext uri="{FF2B5EF4-FFF2-40B4-BE49-F238E27FC236}">
                <a16:creationId xmlns:a16="http://schemas.microsoft.com/office/drawing/2014/main" id="{194E0DD6-8E22-DFD8-0DA2-BE74E693F5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r="1469" b="-3"/>
          <a:stretch>
            <a:fillRect/>
          </a:stretch>
        </p:blipFill>
        <p:spPr>
          <a:xfrm>
            <a:off x="4731025" y="1807616"/>
            <a:ext cx="4070073" cy="30981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A21842-8644-D9F4-2A28-5750B1358F6E}"/>
              </a:ext>
            </a:extLst>
          </p:cNvPr>
          <p:cNvSpPr txBox="1"/>
          <p:nvPr/>
        </p:nvSpPr>
        <p:spPr>
          <a:xfrm>
            <a:off x="6537337" y="4705718"/>
            <a:ext cx="226376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LID4096" sz="700">
                <a:solidFill>
                  <a:srgbClr val="FFFFFF"/>
                </a:solidFill>
                <a:hlinkClick r:id="rId7" tooltip="https://groundup.org.za/article/mango-tree-saves-top-malawian-musician-from-death-in-flood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LID4096" sz="700">
                <a:solidFill>
                  <a:srgbClr val="FFFFFF"/>
                </a:solidFill>
              </a:rPr>
              <a:t> by Unknown Author is licensed under </a:t>
            </a:r>
            <a:r>
              <a:rPr lang="LID4096" sz="700">
                <a:solidFill>
                  <a:srgbClr val="FFFFFF"/>
                </a:solidFill>
                <a:hlinkClick r:id="rId8" tooltip="https://creativecommons.org/licenses/by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BY-ND</a:t>
            </a:r>
            <a:endParaRPr lang="LID4096" sz="700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8F813-0FBE-FD49-202D-381D8922CD03}"/>
              </a:ext>
            </a:extLst>
          </p:cNvPr>
          <p:cNvSpPr txBox="1"/>
          <p:nvPr/>
        </p:nvSpPr>
        <p:spPr>
          <a:xfrm>
            <a:off x="2004944" y="2580394"/>
            <a:ext cx="240803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LID4096" sz="700">
                <a:solidFill>
                  <a:srgbClr val="FFFFFF"/>
                </a:solidFill>
                <a:hlinkClick r:id="rId3" tooltip="https://www.flickr.com/photos/unitednationsdevelopmentprogramme/1619437077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LID4096" sz="700">
                <a:solidFill>
                  <a:srgbClr val="FFFFFF"/>
                </a:solidFill>
              </a:rPr>
              <a:t> by Unknown Author is licensed under </a:t>
            </a:r>
            <a:r>
              <a:rPr lang="LID4096" sz="700">
                <a:solidFill>
                  <a:srgbClr val="FFFFFF"/>
                </a:solidFill>
                <a:hlinkClick r:id="rId9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LID4096" sz="70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332032-4CD1-325D-7236-C38158BA3A24}"/>
              </a:ext>
            </a:extLst>
          </p:cNvPr>
          <p:cNvSpPr txBox="1"/>
          <p:nvPr/>
        </p:nvSpPr>
        <p:spPr>
          <a:xfrm>
            <a:off x="6750396" y="6657945"/>
            <a:ext cx="239360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LID4096" sz="700">
                <a:solidFill>
                  <a:srgbClr val="FFFFFF"/>
                </a:solidFill>
                <a:hlinkClick r:id="rId5" tooltip="https://africanarguments.org/2024/05/kenya-adding-up-the-costs-of-the-floods-amid-an-economic-crisi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LID4096" sz="700">
                <a:solidFill>
                  <a:srgbClr val="FFFFFF"/>
                </a:solidFill>
              </a:rPr>
              <a:t> by Unknown Author is licensed under </a:t>
            </a:r>
            <a:r>
              <a:rPr lang="LID4096" sz="700">
                <a:solidFill>
                  <a:srgbClr val="FFFFFF"/>
                </a:solidFill>
                <a:hlinkClick r:id="rId10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LID4096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88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3190-DAFF-285D-01F0-595009856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02798-9E94-D5F1-542C-8B0FA78660E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923209"/>
            <a:ext cx="7772870" cy="3424107"/>
          </a:xfrm>
        </p:spPr>
        <p:txBody>
          <a:bodyPr/>
          <a:lstStyle/>
          <a:p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Current early-warning systems lack precision and timeliness for </a:t>
            </a:r>
            <a:r>
              <a:rPr lang="en-US" cap="none" dirty="0" err="1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chikwawa</a:t>
            </a: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. Warnings are generic, rarely village-specific, and often delayed. A localized ml-based system is needed for accurate predictions and proactive disaster response.</a:t>
            </a:r>
            <a:endParaRPr lang="en-US" cap="none" dirty="0">
              <a:latin typeface="Century Gothic" panose="020B0502020202020204" pitchFamily="34" charset="0"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02576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301AD-2853-F506-753E-DBE39B8BB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04DA3-F106-5240-0122-EC916C17F65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890945"/>
            <a:ext cx="7772870" cy="3900256"/>
          </a:xfrm>
        </p:spPr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dk1"/>
                </a:solidFill>
                <a:latin typeface="Century Gothic" panose="020B0502020202020204" pitchFamily="34" charset="0"/>
              </a:rPr>
              <a:t>Main Objective</a:t>
            </a:r>
            <a:endParaRPr lang="en-US" dirty="0">
              <a:latin typeface="Century Gothic" panose="020B0502020202020204" pitchFamily="34" charset="0"/>
            </a:endParaRPr>
          </a:p>
          <a:p>
            <a:pPr marL="342900" lvl="0" indent="-312420">
              <a:spcBef>
                <a:spcPts val="640"/>
              </a:spcBef>
              <a:buClr>
                <a:schemeClr val="dk1"/>
              </a:buClr>
              <a:buSzPct val="100000"/>
            </a:pP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- Develop a machine learning-based flood risk prediction system for </a:t>
            </a:r>
            <a:r>
              <a:rPr lang="en-US" cap="none" dirty="0" err="1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chikwawa</a:t>
            </a: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spcBef>
                <a:spcPts val="640"/>
              </a:spcBef>
              <a:buNone/>
            </a:pPr>
            <a:r>
              <a:rPr lang="en-US" b="1" dirty="0">
                <a:solidFill>
                  <a:schemeClr val="dk1"/>
                </a:solidFill>
                <a:latin typeface="Century Gothic" panose="020B0502020202020204" pitchFamily="34" charset="0"/>
              </a:rPr>
              <a:t>Specific Objectives</a:t>
            </a:r>
            <a:endParaRPr lang="en-US" dirty="0">
              <a:latin typeface="Century Gothic" panose="020B0502020202020204" pitchFamily="34" charset="0"/>
            </a:endParaRPr>
          </a:p>
          <a:p>
            <a:pPr marL="342900" lvl="0" indent="-312420">
              <a:spcBef>
                <a:spcPts val="640"/>
              </a:spcBef>
              <a:buClr>
                <a:schemeClr val="dk1"/>
              </a:buClr>
              <a:buSzPct val="100000"/>
            </a:pP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To Identify key flood factors.</a:t>
            </a:r>
            <a:endParaRPr lang="en-US" cap="none" dirty="0">
              <a:latin typeface="Century Gothic" panose="020B0502020202020204" pitchFamily="34" charset="0"/>
            </a:endParaRPr>
          </a:p>
          <a:p>
            <a:pPr marL="342900" lvl="0" indent="-312420">
              <a:spcBef>
                <a:spcPts val="640"/>
              </a:spcBef>
              <a:buClr>
                <a:schemeClr val="dk1"/>
              </a:buClr>
              <a:buSzPct val="100000"/>
            </a:pP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To Build predictive ml models.</a:t>
            </a:r>
            <a:endParaRPr lang="en-US" cap="none" dirty="0">
              <a:latin typeface="Century Gothic" panose="020B0502020202020204" pitchFamily="34" charset="0"/>
            </a:endParaRPr>
          </a:p>
          <a:p>
            <a:pPr marL="342900" lvl="0" indent="-312420">
              <a:spcBef>
                <a:spcPts val="640"/>
              </a:spcBef>
              <a:buClr>
                <a:schemeClr val="dk1"/>
              </a:buClr>
              <a:buSzPct val="100000"/>
            </a:pP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To Assess flood impact on communities and infrastructure.</a:t>
            </a:r>
            <a:endParaRPr lang="en-US" cap="none" dirty="0">
              <a:latin typeface="Century Gothic" panose="020B0502020202020204" pitchFamily="34" charset="0"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741920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B472A-BE54-DB55-0756-04850A541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A5DEC-6FBF-5355-F6C5-EBE6D7678B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846555"/>
            <a:ext cx="7772870" cy="3944645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Focuses on Chikwawa District using:</a:t>
            </a:r>
            <a:endParaRPr lang="en-US" dirty="0">
              <a:latin typeface="Century Gothic" panose="020B0502020202020204" pitchFamily="34" charset="0"/>
            </a:endParaRPr>
          </a:p>
          <a:p>
            <a:pPr marL="342900" lvl="0" indent="-342900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- Hydrological data (river discharge)</a:t>
            </a:r>
            <a:endParaRPr lang="en-US" cap="none" dirty="0">
              <a:latin typeface="Century Gothic" panose="020B0502020202020204" pitchFamily="34" charset="0"/>
            </a:endParaRPr>
          </a:p>
          <a:p>
            <a:pPr marL="342900" lvl="0" indent="-342900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- </a:t>
            </a: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Meteorological data (rainfall)</a:t>
            </a:r>
            <a:endParaRPr lang="en-US" cap="none" dirty="0">
              <a:latin typeface="Century Gothic" panose="020B0502020202020204" pitchFamily="34" charset="0"/>
            </a:endParaRPr>
          </a:p>
          <a:p>
            <a:pPr marL="342900" lvl="0" indent="-342900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- Geospatial data (DEM, land-use)</a:t>
            </a:r>
            <a:endParaRPr lang="en-US" cap="none" dirty="0">
              <a:latin typeface="Century Gothic" panose="020B0502020202020204" pitchFamily="34" charset="0"/>
            </a:endParaRPr>
          </a:p>
          <a:p>
            <a:pPr marL="342900" lvl="0" indent="-342900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ML models will predict flood likelihood and severity.</a:t>
            </a:r>
            <a:endParaRPr lang="en-US" dirty="0">
              <a:latin typeface="Century Gothic" panose="020B0502020202020204" pitchFamily="34" charset="0"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75267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1E1F9-F599-03A8-F69F-D6E28F3D3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1F5EF-39BE-A3A1-36C4-C24B2F3E23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882067"/>
            <a:ext cx="7772870" cy="3909134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Research Design: Quantitative, data-driven.</a:t>
            </a:r>
            <a:endParaRPr lang="en-US">
              <a:latin typeface="Century Gothic" panose="020B0502020202020204" pitchFamily="34" charset="0"/>
            </a:endParaRPr>
          </a:p>
          <a:p>
            <a:pPr marL="342900" lvl="0" indent="-342900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Steps:</a:t>
            </a:r>
            <a:endParaRPr lang="en-US">
              <a:latin typeface="Century Gothic" panose="020B0502020202020204" pitchFamily="34" charset="0"/>
            </a:endParaRPr>
          </a:p>
          <a:p>
            <a:pPr marL="342900" lvl="0" indent="-342900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cap="none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- Data collection</a:t>
            </a:r>
            <a:endParaRPr lang="en-US" cap="none">
              <a:latin typeface="Century Gothic" panose="020B0502020202020204" pitchFamily="34" charset="0"/>
            </a:endParaRPr>
          </a:p>
          <a:p>
            <a:pPr marL="342900" lvl="0" indent="-342900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cap="none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- Preprocessing &amp; feature engineering</a:t>
            </a:r>
            <a:endParaRPr lang="en-US" cap="none">
              <a:latin typeface="Century Gothic" panose="020B0502020202020204" pitchFamily="34" charset="0"/>
            </a:endParaRPr>
          </a:p>
          <a:p>
            <a:pPr marL="342900" lvl="0" indent="-342900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cap="none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- Model development (random forest, lightgbm)</a:t>
            </a:r>
            <a:endParaRPr lang="en-US" cap="none">
              <a:latin typeface="Century Gothic" panose="020B0502020202020204" pitchFamily="34" charset="0"/>
            </a:endParaRPr>
          </a:p>
          <a:p>
            <a:pPr marL="342900" lvl="0" indent="-342900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cap="none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- Evaluation using </a:t>
            </a:r>
            <a:r>
              <a:rPr lang="en-US" cap="none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accuracy metrics ( Precision, accuracy, recall, f1 score and confusion matrix)</a:t>
            </a:r>
            <a:endParaRPr lang="en-US" cap="none">
              <a:latin typeface="Century Gothic" panose="020B0502020202020204" pitchFamily="34" charset="0"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077271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decision tree">
            <a:extLst>
              <a:ext uri="{FF2B5EF4-FFF2-40B4-BE49-F238E27FC236}">
                <a16:creationId xmlns:a16="http://schemas.microsoft.com/office/drawing/2014/main" id="{622423A6-DF22-B105-2A08-33BCABA15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52051" y="858704"/>
            <a:ext cx="7196347" cy="4839543"/>
          </a:xfrm>
          <a:prstGeom prst="roundRect">
            <a:avLst>
              <a:gd name="adj" fmla="val 5301"/>
            </a:avLst>
          </a:prstGeom>
          <a:ln w="1905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59C6AF-D9AE-C68A-247F-4DC7C56E66AB}"/>
              </a:ext>
            </a:extLst>
          </p:cNvPr>
          <p:cNvSpPr txBox="1"/>
          <p:nvPr/>
        </p:nvSpPr>
        <p:spPr>
          <a:xfrm>
            <a:off x="6028907" y="5498192"/>
            <a:ext cx="211949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LID4096" sz="700">
                <a:solidFill>
                  <a:srgbClr val="FFFFFF"/>
                </a:solidFill>
                <a:hlinkClick r:id="rId3" tooltip="https://peerj.com/articles/cs-46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LID4096" sz="700">
                <a:solidFill>
                  <a:srgbClr val="FFFFFF"/>
                </a:solidFill>
              </a:rPr>
              <a:t> by Unknown Author is licensed under </a:t>
            </a:r>
            <a:r>
              <a:rPr lang="LID4096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LID4096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201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12B3-82D1-68CF-8AC6-DE2F9E3B1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C73AC-7CCB-11E7-B867-9EDFD70A48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819923"/>
            <a:ext cx="7772870" cy="397127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Data sources: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Google Earth Engine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NASA EARTH DARA</a:t>
            </a:r>
          </a:p>
          <a:p>
            <a:endParaRPr lang="LID4096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490793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E6CC1-323C-549A-76B2-A89DDF786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0CA87-ABBB-68F2-7E0F-07D78951F3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846555"/>
            <a:ext cx="7772870" cy="3944645"/>
          </a:xfrm>
        </p:spPr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Includes:</a:t>
            </a:r>
            <a:endParaRPr lang="en-US" dirty="0">
              <a:latin typeface="Century Gothic" panose="020B0502020202020204" pitchFamily="34" charset="0"/>
            </a:endParaRPr>
          </a:p>
          <a:p>
            <a:pPr marL="342900" lvl="0" indent="-342900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- Cleaning missing values</a:t>
            </a:r>
            <a:endParaRPr lang="en-US" cap="none" dirty="0">
              <a:latin typeface="Century Gothic" panose="020B0502020202020204" pitchFamily="34" charset="0"/>
            </a:endParaRPr>
          </a:p>
          <a:p>
            <a:pPr marL="342900" lvl="0" indent="-342900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- Spatial and temporal alignment</a:t>
            </a:r>
            <a:endParaRPr lang="en-US" cap="none" dirty="0">
              <a:latin typeface="Century Gothic" panose="020B0502020202020204" pitchFamily="34" charset="0"/>
            </a:endParaRPr>
          </a:p>
          <a:p>
            <a:pPr marL="342900" lvl="0" indent="-342900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- Feature engineering (lagged rainfall, runoff indices)</a:t>
            </a:r>
            <a:endParaRPr lang="en-US" cap="none" dirty="0">
              <a:latin typeface="Century Gothic" panose="020B0502020202020204" pitchFamily="34" charset="0"/>
            </a:endParaRPr>
          </a:p>
          <a:p>
            <a:pPr marL="342900" lvl="0" indent="-342900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- Scaling and normalization</a:t>
            </a:r>
            <a:endParaRPr lang="en-US" dirty="0">
              <a:latin typeface="Century Gothic" panose="020B0502020202020204" pitchFamily="34" charset="0"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899819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7AD21-C825-CCD0-E046-21BA99934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49098-CDBA-6382-ED23-8A93E972EF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784413"/>
            <a:ext cx="7772870" cy="4006788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A localized flood prediction system providing:</a:t>
            </a:r>
            <a:endParaRPr lang="en-US" dirty="0">
              <a:latin typeface="Century Gothic" panose="020B0502020202020204" pitchFamily="34" charset="0"/>
            </a:endParaRPr>
          </a:p>
          <a:p>
            <a:pPr lvl="1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Early warnings (5–10 days ahead)</a:t>
            </a:r>
            <a:endParaRPr lang="en-US" cap="none" dirty="0">
              <a:latin typeface="Century Gothic" panose="020B0502020202020204" pitchFamily="34" charset="0"/>
            </a:endParaRPr>
          </a:p>
          <a:p>
            <a:pPr lvl="1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Community-level alerts</a:t>
            </a:r>
            <a:endParaRPr lang="en-US" cap="none" dirty="0">
              <a:latin typeface="Century Gothic" panose="020B0502020202020204" pitchFamily="34" charset="0"/>
            </a:endParaRPr>
          </a:p>
          <a:p>
            <a:pPr lvl="1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cap="none" dirty="0">
                <a:solidFill>
                  <a:schemeClr val="dk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Improved disaster management and resilience</a:t>
            </a:r>
            <a:endParaRPr lang="en-US" cap="none" dirty="0">
              <a:latin typeface="Century Gothic" panose="020B0502020202020204" pitchFamily="34" charset="0"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588773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F071A-8676-C0DF-FEB1-E44790169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3B9F-AEDF-571E-CD7E-F547B74BB9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988599"/>
            <a:ext cx="7772870" cy="3802602"/>
          </a:xfrm>
        </p:spPr>
        <p:txBody>
          <a:bodyPr/>
          <a:lstStyle/>
          <a:p>
            <a:pPr lvl="0">
              <a:spcBef>
                <a:spcPts val="360"/>
              </a:spcBef>
              <a:buFontTx/>
              <a:buChar char="-"/>
            </a:pPr>
            <a:r>
              <a:rPr lang="en-US" cap="none" dirty="0">
                <a:latin typeface="Century Gothic" panose="020B0502020202020204" pitchFamily="34" charset="0"/>
              </a:rPr>
              <a:t>Flooding in </a:t>
            </a:r>
            <a:r>
              <a:rPr lang="en-US" cap="none" dirty="0" err="1">
                <a:latin typeface="Century Gothic" panose="020B0502020202020204" pitchFamily="34" charset="0"/>
              </a:rPr>
              <a:t>chikwawa</a:t>
            </a:r>
            <a:r>
              <a:rPr lang="en-US" cap="none" dirty="0">
                <a:latin typeface="Century Gothic" panose="020B0502020202020204" pitchFamily="34" charset="0"/>
              </a:rPr>
              <a:t> is recurrent and severe.- Current systems lack precision and timeliness.</a:t>
            </a:r>
          </a:p>
          <a:p>
            <a:pPr lvl="0">
              <a:spcBef>
                <a:spcPts val="360"/>
              </a:spcBef>
              <a:buFontTx/>
              <a:buChar char="-"/>
            </a:pPr>
            <a:r>
              <a:rPr lang="en-US" cap="none" dirty="0" err="1">
                <a:latin typeface="Century Gothic" panose="020B0502020202020204" pitchFamily="34" charset="0"/>
              </a:rPr>
              <a:t>Ml</a:t>
            </a:r>
            <a:r>
              <a:rPr lang="en-US" cap="none" dirty="0">
                <a:latin typeface="Century Gothic" panose="020B0502020202020204" pitchFamily="34" charset="0"/>
              </a:rPr>
              <a:t>-based system offers localized, accurate, and timely predictions.</a:t>
            </a:r>
          </a:p>
          <a:p>
            <a:pPr lvl="0">
              <a:spcBef>
                <a:spcPts val="360"/>
              </a:spcBef>
              <a:buFontTx/>
              <a:buChar char="-"/>
            </a:pPr>
            <a:r>
              <a:rPr lang="en-US" cap="none" dirty="0">
                <a:latin typeface="Century Gothic" panose="020B0502020202020204" pitchFamily="34" charset="0"/>
              </a:rPr>
              <a:t> Supports anticipatory action, reduces losses, and strengthens resilience.</a:t>
            </a:r>
          </a:p>
          <a:p>
            <a:pPr lvl="0">
              <a:spcBef>
                <a:spcPts val="360"/>
              </a:spcBef>
              <a:buFontTx/>
              <a:buChar char="-"/>
            </a:pPr>
            <a:r>
              <a:rPr lang="en-US" cap="none" dirty="0">
                <a:latin typeface="Century Gothic" panose="020B0502020202020204" pitchFamily="34" charset="0"/>
              </a:rPr>
              <a:t> Sustainable long-term solution for disaster management in the lower shire valley.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94079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E3DB-D355-4231-FA40-155109867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B755B-A22E-973F-91A1-482CE8E616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2015231"/>
            <a:ext cx="7772870" cy="3775969"/>
          </a:xfrm>
        </p:spPr>
        <p:txBody>
          <a:bodyPr>
            <a:normAutofit fontScale="32500" lnSpcReduction="20000"/>
          </a:bodyPr>
          <a:lstStyle/>
          <a:p>
            <a:pPr algn="just">
              <a:lnSpc>
                <a:spcPct val="170000"/>
              </a:lnSpc>
              <a:spcBef>
                <a:spcPts val="360"/>
              </a:spcBef>
            </a:pPr>
            <a:r>
              <a:rPr lang="en-US" dirty="0"/>
              <a:t>M. A. M. </a:t>
            </a:r>
            <a:r>
              <a:rPr lang="en-US" dirty="0" err="1"/>
              <a:t>Manyuchi</a:t>
            </a:r>
            <a:r>
              <a:rPr lang="en-US" dirty="0"/>
              <a:t>, “Geography of flood risk in the Lower Shire Valley, Malawi,” </a:t>
            </a:r>
            <a:r>
              <a:rPr lang="en-US" i="1" dirty="0"/>
              <a:t>J. </a:t>
            </a:r>
            <a:r>
              <a:rPr lang="en-US" i="1" dirty="0" err="1"/>
              <a:t>Geogr</a:t>
            </a:r>
            <a:r>
              <a:rPr lang="en-US" i="1" dirty="0"/>
              <a:t>. Reg. Plan.</a:t>
            </a:r>
            <a:r>
              <a:rPr lang="en-US" dirty="0"/>
              <a:t>, vol. 12, no. 3, pp. 52–62, 2019, </a:t>
            </a:r>
            <a:r>
              <a:rPr lang="en-US" dirty="0" err="1"/>
              <a:t>doi</a:t>
            </a:r>
            <a:r>
              <a:rPr lang="en-US" dirty="0"/>
              <a:t>: 10.5897/JGRP2019.0732.</a:t>
            </a:r>
          </a:p>
          <a:p>
            <a:pPr algn="just">
              <a:lnSpc>
                <a:spcPct val="170000"/>
              </a:lnSpc>
              <a:spcBef>
                <a:spcPts val="360"/>
              </a:spcBef>
            </a:pPr>
            <a:r>
              <a:rPr lang="en-US" dirty="0"/>
              <a:t>M. L. Mul and others, “Hydrological assessment of the 2019 floods in the Lower Shire, Malawi,” </a:t>
            </a:r>
            <a:r>
              <a:rPr lang="en-US" i="1" dirty="0" err="1"/>
              <a:t>Hydrol</a:t>
            </a:r>
            <a:r>
              <a:rPr lang="en-US" i="1" dirty="0"/>
              <a:t>. Earth Syst. Sci. Discuss.</a:t>
            </a:r>
            <a:r>
              <a:rPr lang="en-US" dirty="0"/>
              <a:t>, 2020, </a:t>
            </a:r>
            <a:r>
              <a:rPr lang="en-US" dirty="0" err="1"/>
              <a:t>doi</a:t>
            </a:r>
            <a:r>
              <a:rPr lang="en-US" dirty="0"/>
              <a:t>: 10.5194/hess-2020-312.</a:t>
            </a:r>
          </a:p>
          <a:p>
            <a:pPr algn="just">
              <a:lnSpc>
                <a:spcPct val="170000"/>
              </a:lnSpc>
              <a:spcBef>
                <a:spcPts val="360"/>
              </a:spcBef>
            </a:pPr>
            <a:r>
              <a:rPr lang="en-US" dirty="0"/>
              <a:t>Government of Malawi, “Malawi 2019 Floods Post Disaster Needs Assessment (PDNA) Report,” Department of Disaster Management Affairs (</a:t>
            </a:r>
            <a:r>
              <a:rPr lang="en-US" dirty="0" err="1"/>
              <a:t>DoDMA</a:t>
            </a:r>
            <a:r>
              <a:rPr lang="en-US" dirty="0"/>
              <a:t>), Lilongwe, May 2019. [Online]. Available: </a:t>
            </a:r>
            <a:r>
              <a:rPr lang="en-US" dirty="0">
                <a:hlinkClick r:id="rId2"/>
              </a:rPr>
              <a:t>https://www.gfdrr.org/sites/default/files/publication/Malawi_PDNA_2019.pdf</a:t>
            </a:r>
            <a:endParaRPr lang="en-US" dirty="0"/>
          </a:p>
          <a:p>
            <a:pPr algn="just">
              <a:lnSpc>
                <a:spcPct val="170000"/>
              </a:lnSpc>
              <a:spcBef>
                <a:spcPts val="360"/>
              </a:spcBef>
            </a:pPr>
            <a:r>
              <a:rPr lang="en-US" dirty="0"/>
              <a:t>S. S. </a:t>
            </a:r>
            <a:r>
              <a:rPr lang="en-US" dirty="0" err="1"/>
              <a:t>Refadah</a:t>
            </a:r>
            <a:r>
              <a:rPr lang="en-US" dirty="0"/>
              <a:t>, “Development in flood forecasting: A comprehensive review of complex and machine learning models,” </a:t>
            </a:r>
            <a:r>
              <a:rPr lang="en-US" i="1" dirty="0"/>
              <a:t>Phys. Chem. Earth Parts ABC</a:t>
            </a:r>
            <a:r>
              <a:rPr lang="en-US" dirty="0"/>
              <a:t>, p. 103975, 2025.</a:t>
            </a:r>
          </a:p>
          <a:p>
            <a:pPr algn="just">
              <a:lnSpc>
                <a:spcPct val="170000"/>
              </a:lnSpc>
              <a:spcBef>
                <a:spcPts val="360"/>
              </a:spcBef>
            </a:pPr>
            <a:r>
              <a:rPr lang="en-US" dirty="0"/>
              <a:t>A. </a:t>
            </a:r>
            <a:r>
              <a:rPr lang="en-US" dirty="0" err="1"/>
              <a:t>Mosavi</a:t>
            </a:r>
            <a:r>
              <a:rPr lang="en-US" dirty="0"/>
              <a:t>, P. Ozturk, and K. Chau, “Flood prediction using machine learning models: Literature review,” </a:t>
            </a:r>
            <a:r>
              <a:rPr lang="en-US" i="1" dirty="0"/>
              <a:t>Water</a:t>
            </a:r>
            <a:r>
              <a:rPr lang="en-US" dirty="0"/>
              <a:t>, vol. 10, no. 11, p. 1536, 2018.</a:t>
            </a:r>
          </a:p>
          <a:p>
            <a:pPr algn="just">
              <a:lnSpc>
                <a:spcPct val="170000"/>
              </a:lnSpc>
              <a:spcBef>
                <a:spcPts val="360"/>
              </a:spcBef>
            </a:pPr>
            <a:r>
              <a:rPr lang="en-US" dirty="0"/>
              <a:t>Government of Malawi, “2015 Floods Post Disaster Needs Assessment Report,” Department of Disaster Management Affairs (</a:t>
            </a:r>
            <a:r>
              <a:rPr lang="en-US" dirty="0" err="1"/>
              <a:t>DoDMA</a:t>
            </a:r>
            <a:r>
              <a:rPr lang="en-US" dirty="0"/>
              <a:t>), Lilongwe, 2015.</a:t>
            </a:r>
          </a:p>
          <a:p>
            <a:pPr algn="just">
              <a:lnSpc>
                <a:spcPct val="170000"/>
              </a:lnSpc>
              <a:spcBef>
                <a:spcPts val="360"/>
              </a:spcBef>
            </a:pPr>
            <a:r>
              <a:rPr lang="en-US" dirty="0"/>
              <a:t>World Bank, “Malawi Rapid Damage and Loss Assessment: Cyclone Idai,” World Bank Group, Washington, DC, 2019.</a:t>
            </a:r>
          </a:p>
          <a:p>
            <a:pPr algn="just">
              <a:lnSpc>
                <a:spcPct val="170000"/>
              </a:lnSpc>
              <a:spcBef>
                <a:spcPts val="360"/>
              </a:spcBef>
            </a:pPr>
            <a:r>
              <a:rPr lang="en-US" dirty="0"/>
              <a:t>United Nations Office for the Coordination of Humanitarian Affairs (UN OCHA), “Malawi: Tropical Cyclone Freddy Flash Appeal,” Mar. 2023. [Online]. Available: https://reliefweb.int/report/malawi/malawi-tropical-cyclone-freddy-flash-appeal-march-2023</a:t>
            </a:r>
          </a:p>
          <a:p>
            <a:pPr algn="just">
              <a:lnSpc>
                <a:spcPct val="170000"/>
              </a:lnSpc>
              <a:spcBef>
                <a:spcPts val="360"/>
              </a:spcBef>
            </a:pPr>
            <a:r>
              <a:rPr lang="en-US" dirty="0"/>
              <a:t>M. Reichstein, G. Camps-Valls, B. Stevens, M. Jung, J. Denzler, and N. Carvalhais, “Deep learning and process understanding for data-driven Earth system science,” </a:t>
            </a:r>
            <a:r>
              <a:rPr lang="en-US" i="1" dirty="0"/>
              <a:t>Nature</a:t>
            </a:r>
            <a:r>
              <a:rPr lang="en-US" dirty="0"/>
              <a:t>, vol. 566, pp. 195–204, 2019, </a:t>
            </a:r>
            <a:r>
              <a:rPr lang="en-US" dirty="0" err="1"/>
              <a:t>doi</a:t>
            </a:r>
            <a:r>
              <a:rPr lang="en-US" dirty="0"/>
              <a:t>: 10.1038/s41586-019-0912-1.</a:t>
            </a:r>
          </a:p>
          <a:p>
            <a:pPr algn="just">
              <a:lnSpc>
                <a:spcPct val="170000"/>
              </a:lnSpc>
              <a:spcBef>
                <a:spcPts val="360"/>
              </a:spcBef>
            </a:pPr>
            <a:r>
              <a:rPr lang="en-US" dirty="0"/>
              <a:t>Malawi Red Cross Society, “Forecast-based Financing Early Action Protocol – Floods,” Lilongwe, 2022.</a:t>
            </a:r>
          </a:p>
          <a:p>
            <a:pPr algn="just">
              <a:lnSpc>
                <a:spcPct val="170000"/>
              </a:lnSpc>
              <a:spcBef>
                <a:spcPts val="360"/>
              </a:spcBef>
            </a:pPr>
            <a:r>
              <a:rPr lang="en-US" dirty="0"/>
              <a:t>A. M. Nyirenda and others, “Machine learning based flood forecasting using multi-source data in Malawi,” </a:t>
            </a:r>
            <a:r>
              <a:rPr lang="en-US" i="1" dirty="0"/>
              <a:t>Water</a:t>
            </a:r>
            <a:r>
              <a:rPr lang="en-US" dirty="0"/>
              <a:t>, vol. 15, no. 8, p. 1492, 2023, </a:t>
            </a:r>
            <a:r>
              <a:rPr lang="en-US" dirty="0" err="1"/>
              <a:t>doi</a:t>
            </a:r>
            <a:r>
              <a:rPr lang="en-US" dirty="0"/>
              <a:t>: 10.3390/w15081492.</a:t>
            </a:r>
          </a:p>
          <a:p>
            <a:pPr algn="just">
              <a:lnSpc>
                <a:spcPct val="170000"/>
              </a:lnSpc>
              <a:spcBef>
                <a:spcPts val="360"/>
              </a:spcBef>
            </a:pPr>
            <a:r>
              <a:rPr lang="en-US" dirty="0"/>
              <a:t>Zindi Africa, “Flood Prediction in Southern Africa.” 2021. [Online]. Available: </a:t>
            </a:r>
            <a:r>
              <a:rPr lang="en-US" dirty="0">
                <a:hlinkClick r:id="rId3"/>
              </a:rPr>
              <a:t>https://zindi.africa/competitions/flood-prediction-in-southern-africa</a:t>
            </a:r>
            <a:endParaRPr lang="en-US" dirty="0"/>
          </a:p>
          <a:p>
            <a:pPr algn="just">
              <a:lnSpc>
                <a:spcPct val="170000"/>
              </a:lnSpc>
              <a:spcBef>
                <a:spcPts val="360"/>
              </a:spcBef>
            </a:pPr>
            <a:r>
              <a:rPr lang="en-US" dirty="0"/>
              <a:t>M. Chibwana, L. </a:t>
            </a:r>
            <a:r>
              <a:rPr lang="en-US" dirty="0" err="1"/>
              <a:t>Kamwanja</a:t>
            </a:r>
            <a:r>
              <a:rPr lang="en-US" dirty="0"/>
              <a:t>, and A. Phiri, “Long-term impacts of the 2019 floods on child nutrition in Chikwawa District,” </a:t>
            </a:r>
            <a:r>
              <a:rPr lang="en-US" i="1" dirty="0"/>
              <a:t>Malawi Med. J.</a:t>
            </a:r>
            <a:r>
              <a:rPr lang="en-US" dirty="0"/>
              <a:t>, vol. 33, no. 2, pp. 112–119, 2021, </a:t>
            </a:r>
            <a:r>
              <a:rPr lang="en-US" dirty="0" err="1"/>
              <a:t>doi</a:t>
            </a:r>
            <a:r>
              <a:rPr lang="en-US" dirty="0"/>
              <a:t>: 10.4314/mmj.v33i2.6.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206657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967c3efc7_0_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lang="en-US" dirty="0">
              <a:latin typeface="Century Gothic" panose="020B0502020202020204" pitchFamily="34" charset="0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lang="en-US" dirty="0">
              <a:latin typeface="Century Gothic" panose="020B0502020202020204" pitchFamily="34" charset="0"/>
            </a:endParaRPr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7000" dirty="0">
                <a:latin typeface="Century Gothic" panose="020B0502020202020204" pitchFamily="34" charset="0"/>
              </a:rPr>
              <a:t>The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112</TotalTime>
  <Words>955</Words>
  <Application>Microsoft Office PowerPoint</Application>
  <PresentationFormat>On-screen Show (4:3)</PresentationFormat>
  <Paragraphs>77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Century Gothic</vt:lpstr>
      <vt:lpstr>Tw Cen MT</vt:lpstr>
      <vt:lpstr>Droplet</vt:lpstr>
      <vt:lpstr>Flood Risk Prediction in Chikwawa: A Machine Learning-based Solution</vt:lpstr>
      <vt:lpstr>ABSTRACT</vt:lpstr>
      <vt:lpstr>BACKGROUND</vt:lpstr>
      <vt:lpstr>PowerPoint Presentation</vt:lpstr>
      <vt:lpstr>PROBLEM STATEMENT</vt:lpstr>
      <vt:lpstr>OBJECTIVES</vt:lpstr>
      <vt:lpstr>SCOPE</vt:lpstr>
      <vt:lpstr>METHODOLOGY</vt:lpstr>
      <vt:lpstr>PowerPoint Presentation</vt:lpstr>
      <vt:lpstr>DATA COLLECTION</vt:lpstr>
      <vt:lpstr>DATA PREPROCESSING</vt:lpstr>
      <vt:lpstr>EXPECTED OUTCOME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FAVOUR BELINGS KAMPANGIRE</dc:creator>
  <cp:lastModifiedBy>Lingalithu Kadewele</cp:lastModifiedBy>
  <cp:revision>18</cp:revision>
  <dcterms:created xsi:type="dcterms:W3CDTF">2013-01-27T09:14:16Z</dcterms:created>
  <dcterms:modified xsi:type="dcterms:W3CDTF">2025-11-26T06:21:51Z</dcterms:modified>
</cp:coreProperties>
</file>